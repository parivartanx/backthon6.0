
<file path=[Content_Types].xml><?xml version="1.0" encoding="utf-8"?>
<Types xmlns="http://schemas.openxmlformats.org/package/2006/content-types">
  <Default Extension="jpe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25" r:id="rId5"/>
    <p:sldId id="326" r:id="rId6"/>
    <p:sldId id="258" r:id="rId7"/>
    <p:sldId id="259" r:id="rId8"/>
    <p:sldId id="265" r:id="rId9"/>
    <p:sldId id="264" r:id="rId10"/>
    <p:sldId id="257" r:id="rId11"/>
    <p:sldId id="261" r:id="rId12"/>
    <p:sldId id="263" r:id="rId13"/>
    <p:sldId id="268" r:id="rId14"/>
    <p:sldId id="266" r:id="rId15"/>
    <p:sldId id="34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240" autoAdjust="0"/>
  </p:normalViewPr>
  <p:slideViewPr>
    <p:cSldViewPr snapToGrid="0">
      <p:cViewPr varScale="1">
        <p:scale>
          <a:sx n="110" d="100"/>
          <a:sy n="110" d="100"/>
        </p:scale>
        <p:origin x="552" y="10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5574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org&amp;utm_campaign=index&amp;utm_content=thumbnail"/><Relationship Id="rId17" Type="http://schemas.openxmlformats.org/officeDocument/2006/relationships/image" Target="../media/image32.png"/><Relationship Id="rId2" Type="http://schemas.openxmlformats.org/officeDocument/2006/relationships/image" Target="../media/image17.jpe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US" dirty="0"/>
              <a:t>AMR Sentinel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712823"/>
            <a:ext cx="9144000" cy="687977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4400" dirty="0"/>
              <a:t>Team X | Shobhit university | J2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943AEE-F3D6-D2B9-A2C2-F5D3A8810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50" y="371475"/>
            <a:ext cx="1824038" cy="628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ABD98E-4D16-6E06-8265-D77B17B4D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401" y="341201"/>
            <a:ext cx="689198" cy="6891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444876-EA0D-BA52-8B08-1287312C6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7650" y="315958"/>
            <a:ext cx="28575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59"/>
            <a:ext cx="4114800" cy="3069771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AMR</a:t>
            </a:r>
          </a:p>
          <a:p>
            <a:r>
              <a:rPr lang="en-US" dirty="0"/>
              <a:t>Core problem/Cause</a:t>
            </a:r>
          </a:p>
          <a:p>
            <a:r>
              <a:rPr lang="en-US" dirty="0"/>
              <a:t>Action Plan</a:t>
            </a:r>
          </a:p>
          <a:p>
            <a:r>
              <a:rPr lang="en-US" dirty="0"/>
              <a:t>Impact</a:t>
            </a:r>
          </a:p>
          <a:p>
            <a:r>
              <a:rPr lang="en-US" dirty="0"/>
              <a:t>Summary</a:t>
            </a:r>
          </a:p>
        </p:txBody>
      </p:sp>
      <p:pic>
        <p:nvPicPr>
          <p:cNvPr id="8" name="Picture Placeholder 7" descr="Pipette diffusing dyes in flasks">
            <a:extLst>
              <a:ext uri="{FF2B5EF4-FFF2-40B4-BE49-F238E27FC236}">
                <a16:creationId xmlns:a16="http://schemas.microsoft.com/office/drawing/2014/main" id="{9DA934D8-2609-4227-78DF-CF8F07A2F9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" b="97"/>
          <a:stretch/>
        </p:blipFill>
        <p:spPr>
          <a:xfrm>
            <a:off x="5687568" y="1435608"/>
            <a:ext cx="5897880" cy="397764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4067CE-17B1-67D4-B70A-5A703914F728}"/>
              </a:ext>
            </a:extLst>
          </p:cNvPr>
          <p:cNvSpPr txBox="1"/>
          <p:nvPr/>
        </p:nvSpPr>
        <p:spPr>
          <a:xfrm>
            <a:off x="1227906" y="1506577"/>
            <a:ext cx="4815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Mitigating Outpatient Antimicrobial Resistance (AMR) via Point-of-Care Multi-Agent Clinical Prescription Auditing and Guideline Enforcement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BE851219-DFF9-09D0-704C-D9ADCE2CA1B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80160" y="2839204"/>
            <a:ext cx="1358537" cy="526868"/>
          </a:xfrm>
          <a:prstGeom prst="homePlat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DC23EB2B-2285-3C42-31D8-4D87E34CF2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anchor="ctr" anchorCtr="0"/>
          <a:lstStyle/>
          <a:p>
            <a:r>
              <a:rPr lang="en-US" dirty="0"/>
              <a:t>AMR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  <a:noFill/>
        </p:spPr>
        <p:txBody>
          <a:bodyPr anchor="ctr" anchorCtr="0">
            <a:noAutofit/>
          </a:bodyPr>
          <a:lstStyle/>
          <a:p>
            <a:r>
              <a:rPr lang="en-US" dirty="0"/>
              <a:t>AMR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  <a:noFill/>
        </p:spPr>
        <p:txBody>
          <a:bodyPr>
            <a:normAutofit/>
          </a:bodyPr>
          <a:lstStyle/>
          <a:p>
            <a:r>
              <a:rPr lang="en-US" dirty="0"/>
              <a:t>Anti-Microbial Resistance</a:t>
            </a:r>
          </a:p>
        </p:txBody>
      </p:sp>
      <p:pic>
        <p:nvPicPr>
          <p:cNvPr id="10" name="Picture Placeholder 9" descr="Close up of bubbles">
            <a:extLst>
              <a:ext uri="{FF2B5EF4-FFF2-40B4-BE49-F238E27FC236}">
                <a16:creationId xmlns:a16="http://schemas.microsoft.com/office/drawing/2014/main" id="{99058E17-80B3-F3F9-AF6A-0518C39D94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3" r="83"/>
          <a:stretch/>
        </p:blipFill>
        <p:spPr>
          <a:xfrm>
            <a:off x="0" y="0"/>
            <a:ext cx="12188952" cy="2368296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7F5FE8-B5AB-84DC-4CBB-5D5C47010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4184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609600"/>
          </a:xfrm>
          <a:noFill/>
        </p:spPr>
        <p:txBody>
          <a:bodyPr anchor="t" anchorCtr="0"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975" y="1097280"/>
            <a:ext cx="4572000" cy="1828800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This study will talk about three cases for when a patient is diagnosed with UTI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964198-C506-CCDA-447D-2167F1ADC203}"/>
              </a:ext>
            </a:extLst>
          </p:cNvPr>
          <p:cNvSpPr/>
          <p:nvPr/>
        </p:nvSpPr>
        <p:spPr>
          <a:xfrm>
            <a:off x="1279525" y="3173413"/>
            <a:ext cx="10077450" cy="3108325"/>
          </a:xfrm>
          <a:prstGeom prst="rect">
            <a:avLst/>
          </a:prstGeom>
          <a:noFill/>
        </p:spPr>
        <p:txBody>
          <a:bodyPr/>
          <a:lstStyle/>
          <a:p>
            <a:endParaRPr lang="en-IN"/>
          </a:p>
        </p:txBody>
      </p:sp>
      <p:sp>
        <p:nvSpPr>
          <p:cNvPr id="8" name="Arrow: Notched Right 7">
            <a:extLst>
              <a:ext uri="{FF2B5EF4-FFF2-40B4-BE49-F238E27FC236}">
                <a16:creationId xmlns:a16="http://schemas.microsoft.com/office/drawing/2014/main" id="{5ED10EA4-378C-4A0F-787C-7CD150D54523}"/>
              </a:ext>
            </a:extLst>
          </p:cNvPr>
          <p:cNvSpPr/>
          <p:nvPr/>
        </p:nvSpPr>
        <p:spPr>
          <a:xfrm>
            <a:off x="1279525" y="4105910"/>
            <a:ext cx="10077450" cy="1243330"/>
          </a:xfrm>
          <a:prstGeom prst="notchedRightArrow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BF4B2DE-0D7F-482A-6498-86BCA695D636}"/>
              </a:ext>
            </a:extLst>
          </p:cNvPr>
          <p:cNvSpPr/>
          <p:nvPr/>
        </p:nvSpPr>
        <p:spPr>
          <a:xfrm>
            <a:off x="1634696" y="3173413"/>
            <a:ext cx="2221369" cy="1243330"/>
          </a:xfrm>
          <a:custGeom>
            <a:avLst/>
            <a:gdLst>
              <a:gd name="csX0" fmla="*/ 0 w 2221369"/>
              <a:gd name="csY0" fmla="*/ 0 h 1243330"/>
              <a:gd name="csX1" fmla="*/ 2221369 w 2221369"/>
              <a:gd name="csY1" fmla="*/ 0 h 1243330"/>
              <a:gd name="csX2" fmla="*/ 2221369 w 2221369"/>
              <a:gd name="csY2" fmla="*/ 1243330 h 1243330"/>
              <a:gd name="csX3" fmla="*/ 0 w 2221369"/>
              <a:gd name="csY3" fmla="*/ 1243330 h 1243330"/>
              <a:gd name="csX4" fmla="*/ 0 w 2221369"/>
              <a:gd name="csY4" fmla="*/ 0 h 124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21369" h="1243330">
                <a:moveTo>
                  <a:pt x="0" y="0"/>
                </a:moveTo>
                <a:lnTo>
                  <a:pt x="2221369" y="0"/>
                </a:lnTo>
                <a:lnTo>
                  <a:pt x="2221369" y="1243330"/>
                </a:lnTo>
                <a:lnTo>
                  <a:pt x="0" y="12433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b" anchorCtr="1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kern="1200" dirty="0"/>
              <a:t>Case A</a:t>
            </a:r>
          </a:p>
          <a:p>
            <a:pPr marL="228600" lvl="1" indent="-228600" algn="ctr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SzPct val="80000"/>
              <a:buFont typeface="Courier New" panose="02070309020205020404" pitchFamily="49" charset="0"/>
              <a:buChar char="o"/>
            </a:pPr>
            <a:r>
              <a:rPr lang="en-US" sz="1800" kern="1200" dirty="0"/>
              <a:t>Conventional Medicine  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34C5C3A-8CDB-9063-44A8-2BB37B7ABC6E}"/>
              </a:ext>
            </a:extLst>
          </p:cNvPr>
          <p:cNvSpPr/>
          <p:nvPr/>
        </p:nvSpPr>
        <p:spPr>
          <a:xfrm>
            <a:off x="2589964" y="4572159"/>
            <a:ext cx="310832" cy="310832"/>
          </a:xfrm>
          <a:prstGeom prst="ellipse">
            <a:avLst/>
          </a:pr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4076E32-53EB-A80E-8333-843099E6E53E}"/>
              </a:ext>
            </a:extLst>
          </p:cNvPr>
          <p:cNvSpPr/>
          <p:nvPr/>
        </p:nvSpPr>
        <p:spPr>
          <a:xfrm>
            <a:off x="4352950" y="5038408"/>
            <a:ext cx="2922854" cy="1243330"/>
          </a:xfrm>
          <a:custGeom>
            <a:avLst/>
            <a:gdLst>
              <a:gd name="csX0" fmla="*/ 0 w 2922854"/>
              <a:gd name="csY0" fmla="*/ 0 h 1243330"/>
              <a:gd name="csX1" fmla="*/ 2922854 w 2922854"/>
              <a:gd name="csY1" fmla="*/ 0 h 1243330"/>
              <a:gd name="csX2" fmla="*/ 2922854 w 2922854"/>
              <a:gd name="csY2" fmla="*/ 1243330 h 1243330"/>
              <a:gd name="csX3" fmla="*/ 0 w 2922854"/>
              <a:gd name="csY3" fmla="*/ 1243330 h 1243330"/>
              <a:gd name="csX4" fmla="*/ 0 w 2922854"/>
              <a:gd name="csY4" fmla="*/ 0 h 124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22854" h="1243330">
                <a:moveTo>
                  <a:pt x="0" y="0"/>
                </a:moveTo>
                <a:lnTo>
                  <a:pt x="2922854" y="0"/>
                </a:lnTo>
                <a:lnTo>
                  <a:pt x="2922854" y="1243330"/>
                </a:lnTo>
                <a:lnTo>
                  <a:pt x="0" y="12433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t" anchorCtr="1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kern="1200" dirty="0"/>
              <a:t>Case B</a:t>
            </a:r>
          </a:p>
          <a:p>
            <a:pPr marL="228600" lvl="1" indent="-228600" algn="ctr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SzPct val="80000"/>
              <a:buFont typeface="Courier New" panose="02070309020205020404" pitchFamily="49" charset="0"/>
              <a:buChar char="o"/>
            </a:pPr>
            <a:r>
              <a:rPr lang="en-US" sz="1800" kern="1200" dirty="0"/>
              <a:t>Homeopathy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0BB3EE-E824-4960-E3C0-A6EF6526E217}"/>
              </a:ext>
            </a:extLst>
          </p:cNvPr>
          <p:cNvSpPr/>
          <p:nvPr/>
        </p:nvSpPr>
        <p:spPr>
          <a:xfrm>
            <a:off x="5658961" y="4572159"/>
            <a:ext cx="310832" cy="310832"/>
          </a:xfrm>
          <a:prstGeom prst="ellipse">
            <a:avLst/>
          </a:pr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32FFCD-F2E1-DEFF-5841-E887ADCBDDEC}"/>
              </a:ext>
            </a:extLst>
          </p:cNvPr>
          <p:cNvSpPr/>
          <p:nvPr/>
        </p:nvSpPr>
        <p:spPr>
          <a:xfrm>
            <a:off x="7421947" y="3173413"/>
            <a:ext cx="2922854" cy="1243330"/>
          </a:xfrm>
          <a:custGeom>
            <a:avLst/>
            <a:gdLst>
              <a:gd name="csX0" fmla="*/ 0 w 2922854"/>
              <a:gd name="csY0" fmla="*/ 0 h 1243330"/>
              <a:gd name="csX1" fmla="*/ 2922854 w 2922854"/>
              <a:gd name="csY1" fmla="*/ 0 h 1243330"/>
              <a:gd name="csX2" fmla="*/ 2922854 w 2922854"/>
              <a:gd name="csY2" fmla="*/ 1243330 h 1243330"/>
              <a:gd name="csX3" fmla="*/ 0 w 2922854"/>
              <a:gd name="csY3" fmla="*/ 1243330 h 1243330"/>
              <a:gd name="csX4" fmla="*/ 0 w 2922854"/>
              <a:gd name="csY4" fmla="*/ 0 h 124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22854" h="1243330">
                <a:moveTo>
                  <a:pt x="0" y="0"/>
                </a:moveTo>
                <a:lnTo>
                  <a:pt x="2922854" y="0"/>
                </a:lnTo>
                <a:lnTo>
                  <a:pt x="2922854" y="1243330"/>
                </a:lnTo>
                <a:lnTo>
                  <a:pt x="0" y="124333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b" anchorCtr="1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kern="1200" dirty="0"/>
              <a:t>Case C</a:t>
            </a:r>
          </a:p>
          <a:p>
            <a:pPr marL="228600" lvl="1" indent="-228600" algn="ctr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SzPct val="80000"/>
              <a:buFont typeface="Courier New" panose="02070309020205020404" pitchFamily="49" charset="0"/>
              <a:buChar char="o"/>
            </a:pPr>
            <a:r>
              <a:rPr lang="en-US" sz="1800" kern="1200" dirty="0"/>
              <a:t>Ayurvedic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369BC6C-24D9-A5CE-43F9-DB5D98CACBB3}"/>
              </a:ext>
            </a:extLst>
          </p:cNvPr>
          <p:cNvSpPr/>
          <p:nvPr/>
        </p:nvSpPr>
        <p:spPr>
          <a:xfrm>
            <a:off x="8727958" y="4572159"/>
            <a:ext cx="310832" cy="310832"/>
          </a:xfrm>
          <a:prstGeom prst="ellipse">
            <a:avLst/>
          </a:prstGeom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/>
              <a:t>Competitive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9005" y="2011680"/>
            <a:ext cx="3831772" cy="4476206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Conventional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IN" dirty="0"/>
              <a:t>Recurrent MDR Klebsiella pneumoniae UTI in a kidney-transplant recipient.</a:t>
            </a:r>
          </a:p>
          <a:p>
            <a:r>
              <a:rPr lang="en-IN" dirty="0"/>
              <a:t>Treatment failure required reassessment and surgical source control.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EDD8F76-A9B2-06D2-4D49-BF52B11A3203}"/>
              </a:ext>
            </a:extLst>
          </p:cNvPr>
          <p:cNvSpPr txBox="1">
            <a:spLocks/>
          </p:cNvSpPr>
          <p:nvPr/>
        </p:nvSpPr>
        <p:spPr>
          <a:xfrm>
            <a:off x="8151223" y="2002962"/>
            <a:ext cx="3831772" cy="44762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8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2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ourier New" panose="02070309020205020404" pitchFamily="49" charset="0"/>
              <a:buNone/>
            </a:pPr>
            <a:r>
              <a:rPr lang="en-US" dirty="0"/>
              <a:t>	    </a:t>
            </a:r>
            <a:r>
              <a:rPr lang="en-US" b="1" dirty="0"/>
              <a:t>Ayurvedic</a:t>
            </a:r>
          </a:p>
          <a:p>
            <a:pPr marL="0" indent="0">
              <a:buFont typeface="Courier New" panose="02070309020205020404" pitchFamily="49" charset="0"/>
              <a:buNone/>
            </a:pPr>
            <a:endParaRPr lang="en-US" b="1" dirty="0"/>
          </a:p>
          <a:p>
            <a:pPr marL="0" indent="0">
              <a:buFont typeface="Courier New" panose="02070309020205020404" pitchFamily="49" charset="0"/>
              <a:buNone/>
            </a:pPr>
            <a:endParaRPr lang="en-US" dirty="0"/>
          </a:p>
          <a:p>
            <a:r>
              <a:rPr lang="en-IN" dirty="0"/>
              <a:t>E. coli UTI treated with Varividaryadi Kashaya in a single-patient report.</a:t>
            </a:r>
          </a:p>
          <a:p>
            <a:r>
              <a:rPr lang="en-IN" dirty="0"/>
              <a:t>Follow-up culture was reported negative; AMR was not established.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493719-400B-9C21-5668-31F4528D6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53342"/>
            <a:ext cx="914400" cy="914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EE3939-ABA6-F5C4-E2AE-612ACC05E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757" y="2040272"/>
            <a:ext cx="1803135" cy="1238795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458B8D4-D927-37C5-B21D-10D2F9291F9A}"/>
              </a:ext>
            </a:extLst>
          </p:cNvPr>
          <p:cNvSpPr txBox="1">
            <a:spLocks/>
          </p:cNvSpPr>
          <p:nvPr/>
        </p:nvSpPr>
        <p:spPr>
          <a:xfrm>
            <a:off x="4180114" y="2002962"/>
            <a:ext cx="3831772" cy="44762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8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2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ourier New" panose="02070309020205020404" pitchFamily="49" charset="0"/>
              <a:buNone/>
            </a:pPr>
            <a:r>
              <a:rPr lang="en-US" dirty="0"/>
              <a:t>	</a:t>
            </a:r>
            <a:r>
              <a:rPr lang="en-US" b="1" dirty="0"/>
              <a:t>Homeopathic</a:t>
            </a:r>
          </a:p>
          <a:p>
            <a:pPr marL="0" indent="0">
              <a:buFont typeface="Courier New" panose="02070309020205020404" pitchFamily="49" charset="0"/>
              <a:buNone/>
            </a:pPr>
            <a:endParaRPr lang="en-US" b="1" dirty="0"/>
          </a:p>
          <a:p>
            <a:pPr marL="0" indent="0">
              <a:buFont typeface="Courier New" panose="02070309020205020404" pitchFamily="49" charset="0"/>
              <a:buNone/>
            </a:pPr>
            <a:endParaRPr lang="en-US" b="1" dirty="0"/>
          </a:p>
          <a:p>
            <a:r>
              <a:rPr lang="en-IN" dirty="0"/>
              <a:t>Two published cases of antibiotic-resistant recurrent UTI.</a:t>
            </a:r>
          </a:p>
          <a:p>
            <a:r>
              <a:rPr lang="en-IN" dirty="0"/>
              <a:t>Reported improvement; controlled evidence remains insufficient to establish efficacy.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C559DC-2FC2-C34F-9DEF-D5CFC7368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0114" y="2011680"/>
            <a:ext cx="1480457" cy="148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593667"/>
            <a:ext cx="10241280" cy="955766"/>
          </a:xfrm>
          <a:noFill/>
        </p:spPr>
        <p:txBody>
          <a:bodyPr anchor="b" anchorCtr="0"/>
          <a:lstStyle/>
          <a:p>
            <a:r>
              <a:rPr lang="en-US" dirty="0"/>
              <a:t>Core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2880794"/>
            <a:ext cx="8046720" cy="2518520"/>
          </a:xfrm>
          <a:noFill/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Point-of-Care Bottleneck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ICMR Standard-Point Blank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Overprescription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OPD: Race Against Time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Cognition X Manuals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805" y="1332416"/>
            <a:ext cx="6217920" cy="539931"/>
          </a:xfrm>
          <a:noFill/>
        </p:spPr>
        <p:txBody>
          <a:bodyPr/>
          <a:lstStyle/>
          <a:p>
            <a:r>
              <a:rPr lang="en-US" dirty="0"/>
              <a:t>Action Plan</a:t>
            </a:r>
          </a:p>
        </p:txBody>
      </p:sp>
      <p:pic>
        <p:nvPicPr>
          <p:cNvPr id="16" name="Picture Placeholder 15" descr="Pipette over three glass jars">
            <a:extLst>
              <a:ext uri="{FF2B5EF4-FFF2-40B4-BE49-F238E27FC236}">
                <a16:creationId xmlns:a16="http://schemas.microsoft.com/office/drawing/2014/main" id="{363B2CE7-DE69-D368-9719-08D0C83ABC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1298448" y="1828800"/>
            <a:ext cx="3200400" cy="32004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5312" y="2499354"/>
            <a:ext cx="6938677" cy="2185857"/>
          </a:xfrm>
          <a:noFill/>
        </p:spPr>
        <p:txBody>
          <a:bodyPr>
            <a:normAutofit/>
          </a:bodyPr>
          <a:lstStyle/>
          <a:p>
            <a:r>
              <a:rPr lang="en-US" dirty="0"/>
              <a:t>Clinic Ai Agent</a:t>
            </a:r>
          </a:p>
          <a:p>
            <a:r>
              <a:rPr lang="en-US" dirty="0"/>
              <a:t>Prescript guidance</a:t>
            </a:r>
          </a:p>
          <a:p>
            <a:r>
              <a:rPr lang="en-US" dirty="0"/>
              <a:t>Efficiency X Effectivity</a:t>
            </a:r>
          </a:p>
          <a:p>
            <a:r>
              <a:rPr lang="en-US" dirty="0"/>
              <a:t>Sustainability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68651D-8957-F32D-8A75-FEBD0B391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359" y="4894519"/>
            <a:ext cx="1648055" cy="1667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0D883C-594A-29BB-1C69-D81189262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387" y="4904045"/>
            <a:ext cx="1667108" cy="16480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56784E-01F8-213C-D619-C262DEAF08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6179" y="4904035"/>
            <a:ext cx="1648055" cy="16480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D3DFF6-1589-B68B-DB7E-3D1544C169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5450" y="4912753"/>
            <a:ext cx="1667108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  <a:noFill/>
        </p:spPr>
        <p:txBody>
          <a:bodyPr/>
          <a:lstStyle/>
          <a:p>
            <a:r>
              <a:rPr lang="en-US" dirty="0"/>
              <a:t>Tech Stack</a:t>
            </a:r>
            <a:br>
              <a:rPr lang="en-US" dirty="0"/>
            </a:br>
            <a:r>
              <a:rPr lang="en-US" sz="2400" dirty="0"/>
              <a:t>(Action Plan 0.1)</a:t>
            </a:r>
            <a:endParaRPr lang="en-US" dirty="0"/>
          </a:p>
        </p:txBody>
      </p:sp>
      <p:pic>
        <p:nvPicPr>
          <p:cNvPr id="6" name="Picture Placeholder 17" descr="Scientist looking at a test tube">
            <a:extLst>
              <a:ext uri="{FF2B5EF4-FFF2-40B4-BE49-F238E27FC236}">
                <a16:creationId xmlns:a16="http://schemas.microsoft.com/office/drawing/2014/main" id="{23F775E2-246C-F1D2-C3A0-D4C55F65CC8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" b="26"/>
          <a:stretch/>
        </p:blipFill>
        <p:spPr>
          <a:xfrm>
            <a:off x="1280160" y="548640"/>
            <a:ext cx="3017520" cy="30175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99094" y="508624"/>
            <a:ext cx="1740293" cy="3139451"/>
          </a:xfrm>
          <a:noFill/>
        </p:spPr>
        <p:txBody>
          <a:bodyPr vert="horz" lIns="91440" tIns="45720" rIns="91440" bIns="45720" rtlCol="0" anchor="b" anchorCtr="0">
            <a:noAutofit/>
          </a:bodyPr>
          <a:lstStyle/>
          <a:p>
            <a:pPr marL="0" indent="0">
              <a:buNone/>
            </a:pPr>
            <a:r>
              <a:rPr lang="en-US" sz="1600" dirty="0"/>
              <a:t>Frontend  </a:t>
            </a:r>
          </a:p>
          <a:p>
            <a:r>
              <a:rPr lang="en-US" sz="1600" dirty="0"/>
              <a:t>Shad cn</a:t>
            </a:r>
          </a:p>
          <a:p>
            <a:r>
              <a:rPr lang="en-US" sz="1600" dirty="0"/>
              <a:t>Framer motion</a:t>
            </a:r>
          </a:p>
          <a:p>
            <a:r>
              <a:rPr lang="en-US" sz="1600" dirty="0"/>
              <a:t>Next.js</a:t>
            </a:r>
          </a:p>
          <a:p>
            <a:r>
              <a:rPr lang="en-US" sz="1600" dirty="0"/>
              <a:t>Tailwind css</a:t>
            </a:r>
          </a:p>
          <a:p>
            <a:r>
              <a:rPr lang="en-US" sz="1600" dirty="0"/>
              <a:t>Rechart</a:t>
            </a:r>
          </a:p>
          <a:p>
            <a:r>
              <a:rPr lang="en-US" sz="1600" dirty="0"/>
              <a:t>lucide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151C8A-D011-7302-8776-81520238A35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66051" y="4693928"/>
            <a:ext cx="802813" cy="12474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31941C-5152-99C2-5E23-54E1879D971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4197530" y="4933411"/>
            <a:ext cx="483324" cy="4833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E1BC50-5D3C-9C30-D49C-BFE7D44D6E0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8642974" y="65032"/>
            <a:ext cx="696687" cy="6966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F25441-DA20-368A-9623-CE0B52F270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8240" y="920036"/>
            <a:ext cx="252362" cy="276532"/>
          </a:xfrm>
          <a:prstGeom prst="rect">
            <a:avLst/>
          </a:prstGeom>
        </p:spPr>
      </p:pic>
      <p:pic>
        <p:nvPicPr>
          <p:cNvPr id="19" name="Picture 18" descr="PostgreSQL Logos &amp; Icons – Download PNG, SVG Files">
            <a:extLst>
              <a:ext uri="{FF2B5EF4-FFF2-40B4-BE49-F238E27FC236}">
                <a16:creationId xmlns:a16="http://schemas.microsoft.com/office/drawing/2014/main" id="{82C26106-4A01-F984-C6DB-DE30432EFF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3404" y="3056706"/>
            <a:ext cx="389702" cy="389702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0B04EA1-0B7D-C1FF-27E8-691E9602AE8F}"/>
              </a:ext>
            </a:extLst>
          </p:cNvPr>
          <p:cNvSpPr txBox="1">
            <a:spLocks/>
          </p:cNvSpPr>
          <p:nvPr/>
        </p:nvSpPr>
        <p:spPr>
          <a:xfrm>
            <a:off x="6666230" y="495094"/>
            <a:ext cx="1652010" cy="3294495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2400" b="0" i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ourier New" panose="02070309020205020404" pitchFamily="49" charset="0"/>
              <a:buNone/>
            </a:pPr>
            <a:r>
              <a:rPr lang="en-US" sz="1600" dirty="0"/>
              <a:t>Backend</a:t>
            </a:r>
          </a:p>
          <a:p>
            <a:r>
              <a:rPr lang="en-US" sz="1600" dirty="0"/>
              <a:t>Python</a:t>
            </a:r>
          </a:p>
          <a:p>
            <a:r>
              <a:rPr lang="en-US" sz="1600" dirty="0"/>
              <a:t>Fastapi</a:t>
            </a:r>
          </a:p>
          <a:p>
            <a:r>
              <a:rPr lang="en-US" sz="1600" dirty="0"/>
              <a:t>Pydantic </a:t>
            </a:r>
          </a:p>
          <a:p>
            <a:r>
              <a:rPr lang="en-US" sz="1600" dirty="0"/>
              <a:t>Sqlalcemy</a:t>
            </a:r>
          </a:p>
          <a:p>
            <a:r>
              <a:rPr lang="en-US" sz="1600" dirty="0"/>
              <a:t>Psycopg</a:t>
            </a:r>
          </a:p>
          <a:p>
            <a:r>
              <a:rPr lang="en-US" sz="1600" dirty="0"/>
              <a:t>Postgresql</a:t>
            </a:r>
          </a:p>
          <a:p>
            <a:r>
              <a:rPr lang="en-US" sz="1600" dirty="0"/>
              <a:t>Pytest 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C725FD6-B942-4354-E1D7-73BF7026453C}"/>
              </a:ext>
            </a:extLst>
          </p:cNvPr>
          <p:cNvSpPr txBox="1">
            <a:spLocks/>
          </p:cNvSpPr>
          <p:nvPr/>
        </p:nvSpPr>
        <p:spPr>
          <a:xfrm>
            <a:off x="9331567" y="537199"/>
            <a:ext cx="1740293" cy="4879536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2400" b="0" i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ourier New" panose="02070309020205020404" pitchFamily="49" charset="0"/>
              <a:buNone/>
            </a:pPr>
            <a:r>
              <a:rPr lang="en-US" sz="1600" dirty="0"/>
              <a:t>AI &amp; RAG</a:t>
            </a:r>
          </a:p>
          <a:p>
            <a:r>
              <a:rPr lang="en-US" sz="1600" dirty="0"/>
              <a:t>Langgraph</a:t>
            </a:r>
          </a:p>
          <a:p>
            <a:r>
              <a:rPr lang="en-US" sz="1600" dirty="0"/>
              <a:t>Llama index</a:t>
            </a:r>
          </a:p>
          <a:p>
            <a:r>
              <a:rPr lang="en-US" sz="1600" dirty="0"/>
              <a:t>Gemini 2.5 flash</a:t>
            </a:r>
          </a:p>
          <a:p>
            <a:r>
              <a:rPr lang="en-US" sz="1600" dirty="0"/>
              <a:t>Openrouter api</a:t>
            </a:r>
          </a:p>
          <a:p>
            <a:r>
              <a:rPr lang="en-US" sz="1600" dirty="0"/>
              <a:t>Pgvector</a:t>
            </a:r>
          </a:p>
          <a:p>
            <a:r>
              <a:rPr lang="en-US" sz="1600" dirty="0"/>
              <a:t>rank_bm25</a:t>
            </a:r>
          </a:p>
          <a:p>
            <a:r>
              <a:rPr lang="en-US" sz="1600" dirty="0"/>
              <a:t>BAAI/bge-reranker</a:t>
            </a:r>
          </a:p>
          <a:p>
            <a:r>
              <a:rPr lang="en-US" sz="1600" dirty="0"/>
              <a:t>Rapidfuzz</a:t>
            </a:r>
          </a:p>
          <a:p>
            <a:r>
              <a:rPr lang="en-US" sz="1600" dirty="0"/>
              <a:t>okf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943438-A2B5-7CD7-5452-12CAC76BA6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3970" y="916342"/>
            <a:ext cx="361875" cy="361875"/>
          </a:xfrm>
          <a:prstGeom prst="rect">
            <a:avLst/>
          </a:prstGeom>
        </p:spPr>
      </p:pic>
      <p:pic>
        <p:nvPicPr>
          <p:cNvPr id="4" name="Picture 3" descr="Framer Motion Logo | SVG | Real Company | Alphabet, Letter M Logo">
            <a:extLst>
              <a:ext uri="{FF2B5EF4-FFF2-40B4-BE49-F238E27FC236}">
                <a16:creationId xmlns:a16="http://schemas.microsoft.com/office/drawing/2014/main" id="{552C018D-7D00-33D2-3884-BA13A01C62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4915" y="1450211"/>
            <a:ext cx="387532" cy="387532"/>
          </a:xfrm>
          <a:prstGeom prst="rect">
            <a:avLst/>
          </a:prstGeom>
        </p:spPr>
      </p:pic>
      <p:pic>
        <p:nvPicPr>
          <p:cNvPr id="7" name="Picture 6" descr="Nextjs Icon | Free Download PNG &amp; SVG | SVG Logos">
            <a:extLst>
              <a:ext uri="{FF2B5EF4-FFF2-40B4-BE49-F238E27FC236}">
                <a16:creationId xmlns:a16="http://schemas.microsoft.com/office/drawing/2014/main" id="{4BAF4358-4519-2758-7380-45230F12102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20138" y="1780457"/>
            <a:ext cx="846092" cy="846092"/>
          </a:xfrm>
          <a:prstGeom prst="rect">
            <a:avLst/>
          </a:prstGeom>
        </p:spPr>
      </p:pic>
      <p:pic>
        <p:nvPicPr>
          <p:cNvPr id="8" name="Graphic 7" descr="Tailwind Css Vector SVG Icon - SVG Repo">
            <a:extLst>
              <a:ext uri="{FF2B5EF4-FFF2-40B4-BE49-F238E27FC236}">
                <a16:creationId xmlns:a16="http://schemas.microsoft.com/office/drawing/2014/main" id="{3ED3EAB4-3278-006D-76C1-22DCDFC129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48382" y="2387821"/>
            <a:ext cx="522573" cy="522573"/>
          </a:xfrm>
          <a:prstGeom prst="rect">
            <a:avLst/>
          </a:prstGeom>
        </p:spPr>
      </p:pic>
      <p:pic>
        <p:nvPicPr>
          <p:cNvPr id="9" name="Picture 8" descr="File:React-icon.svg - Wikimedia Commons">
            <a:extLst>
              <a:ext uri="{FF2B5EF4-FFF2-40B4-BE49-F238E27FC236}">
                <a16:creationId xmlns:a16="http://schemas.microsoft.com/office/drawing/2014/main" id="{3FE07B9A-7DAF-2B78-A1F8-111FD100818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8340" y="2898199"/>
            <a:ext cx="424743" cy="3779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440C14-5C04-B563-6CE4-225A6C01513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H="1">
            <a:off x="5916581" y="3240048"/>
            <a:ext cx="549541" cy="5495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FFF16E-1B10-A5CE-F748-1A3D46E53CA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0822" y="1312423"/>
            <a:ext cx="316692" cy="312232"/>
          </a:xfrm>
          <a:prstGeom prst="rect">
            <a:avLst/>
          </a:prstGeom>
        </p:spPr>
      </p:pic>
      <p:pic>
        <p:nvPicPr>
          <p:cNvPr id="5" name="Picture 4" descr="Pydantic Icon | Free Download PNG &amp; SVG | Simple Icons">
            <a:extLst>
              <a:ext uri="{FF2B5EF4-FFF2-40B4-BE49-F238E27FC236}">
                <a16:creationId xmlns:a16="http://schemas.microsoft.com/office/drawing/2014/main" id="{7F8E81CB-4568-10C0-8D61-8016A223044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85756" y="1740252"/>
            <a:ext cx="316692" cy="316692"/>
          </a:xfrm>
          <a:prstGeom prst="rect">
            <a:avLst/>
          </a:prstGeom>
        </p:spPr>
      </p:pic>
      <p:pic>
        <p:nvPicPr>
          <p:cNvPr id="15" name="Picture 14" descr="Sql - Free files and folders icons">
            <a:extLst>
              <a:ext uri="{FF2B5EF4-FFF2-40B4-BE49-F238E27FC236}">
                <a16:creationId xmlns:a16="http://schemas.microsoft.com/office/drawing/2014/main" id="{FC188766-5185-691C-7F92-718EB59761F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97557" y="2128996"/>
            <a:ext cx="322104" cy="3221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21F182F-FB30-940D-FDB6-6D15433742D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37235" y="2493980"/>
            <a:ext cx="634491" cy="4948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E1C74B3-B555-85A5-DFC7-840943ED548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42028" y="3444532"/>
            <a:ext cx="494887" cy="49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  <a:noFill/>
        </p:spPr>
        <p:txBody>
          <a:bodyPr anchor="t" anchorCtr="0"/>
          <a:lstStyle/>
          <a:p>
            <a:r>
              <a:rPr lang="en-US" dirty="0"/>
              <a:t>IMPACT 	&amp;		 Future scope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/>
              <a:t>Reducing Irrational Antibiotic Prescribing</a:t>
            </a:r>
            <a:endParaRPr lang="en-US" dirty="0"/>
          </a:p>
          <a:p>
            <a:pPr lvl="1"/>
            <a:r>
              <a:rPr lang="en-US" dirty="0"/>
              <a:t>Prescription audit</a:t>
            </a:r>
          </a:p>
          <a:p>
            <a:r>
              <a:rPr lang="en-IN" dirty="0"/>
              <a:t>Slowing the Spread of Antimicrobial Resistance</a:t>
            </a:r>
            <a:endParaRPr lang="en-US" dirty="0"/>
          </a:p>
          <a:p>
            <a:pPr lvl="1"/>
            <a:r>
              <a:rPr lang="en-IN" dirty="0"/>
              <a:t>Avoidable Anti-microbial exposure</a:t>
            </a:r>
            <a:endParaRPr lang="en-US" dirty="0"/>
          </a:p>
          <a:p>
            <a:r>
              <a:rPr lang="en-US" dirty="0"/>
              <a:t>Smarter Healthcare System</a:t>
            </a:r>
          </a:p>
          <a:p>
            <a:pPr lvl="1"/>
            <a:r>
              <a:rPr lang="en-US" dirty="0"/>
              <a:t>Practicality and productivity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6100BCB-7699-64C2-6EFA-92D102712D3A}"/>
              </a:ext>
            </a:extLst>
          </p:cNvPr>
          <p:cNvSpPr txBox="1">
            <a:spLocks/>
          </p:cNvSpPr>
          <p:nvPr/>
        </p:nvSpPr>
        <p:spPr>
          <a:xfrm>
            <a:off x="6096000" y="2377440"/>
            <a:ext cx="4572000" cy="342900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  <a:defRPr sz="1800" b="1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None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4572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None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4572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Real Time Surveillance</a:t>
            </a:r>
          </a:p>
          <a:p>
            <a:pPr lvl="1"/>
            <a:r>
              <a:rPr lang="en-US" dirty="0"/>
              <a:t>Hospital &amp; Regional Integrations</a:t>
            </a:r>
          </a:p>
          <a:p>
            <a:r>
              <a:rPr lang="en-US" dirty="0"/>
              <a:t>Clinical Personalization</a:t>
            </a:r>
          </a:p>
          <a:p>
            <a:pPr lvl="1"/>
            <a:r>
              <a:rPr lang="en-US" dirty="0"/>
              <a:t>Patient Specific Audit</a:t>
            </a:r>
          </a:p>
          <a:p>
            <a:r>
              <a:rPr lang="en-US" dirty="0"/>
              <a:t>AMR Intelligence</a:t>
            </a:r>
          </a:p>
          <a:p>
            <a:pPr lvl="1"/>
            <a:r>
              <a:rPr lang="en-US" dirty="0"/>
              <a:t>Awareness and Stewardship</a:t>
            </a:r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531223"/>
          </a:xfrm>
          <a:noFill/>
        </p:spPr>
        <p:txBody>
          <a:bodyPr anchor="t" anchorCtr="0"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1628503"/>
            <a:ext cx="4663440" cy="4315097"/>
          </a:xfrm>
          <a:solidFill>
            <a:schemeClr val="accent4"/>
          </a:solidFill>
        </p:spPr>
        <p:txBody>
          <a:bodyPr vert="horz" lIns="365760" tIns="365760" rIns="365760" bIns="365760" rtlCol="0" anchor="t">
            <a:normAutofit fontScale="55000" lnSpcReduction="20000"/>
          </a:bodyPr>
          <a:lstStyle/>
          <a:p>
            <a:r>
              <a:rPr lang="en-US" dirty="0"/>
              <a:t>AMR</a:t>
            </a:r>
          </a:p>
          <a:p>
            <a:r>
              <a:rPr lang="en-US" dirty="0"/>
              <a:t>India’s AMR Surveillance</a:t>
            </a:r>
          </a:p>
          <a:p>
            <a:r>
              <a:rPr lang="en-US" dirty="0"/>
              <a:t>WHO AMR Guard</a:t>
            </a:r>
          </a:p>
          <a:p>
            <a:r>
              <a:rPr lang="en-US" dirty="0"/>
              <a:t>AMR Sentinel</a:t>
            </a:r>
          </a:p>
          <a:p>
            <a:r>
              <a:rPr lang="en-US" dirty="0"/>
              <a:t>Impacts &amp; Scope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628503"/>
            <a:ext cx="4663440" cy="4315097"/>
          </a:xfrm>
          <a:solidFill>
            <a:schemeClr val="accent4"/>
          </a:solidFill>
        </p:spPr>
        <p:txBody>
          <a:bodyPr vert="horz" lIns="365760" tIns="365760" rIns="365760" bIns="36576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Sources</a:t>
            </a:r>
          </a:p>
          <a:p>
            <a:r>
              <a:rPr lang="en-US" dirty="0"/>
              <a:t>WHO</a:t>
            </a:r>
          </a:p>
          <a:p>
            <a:r>
              <a:rPr lang="en-US" dirty="0"/>
              <a:t>NCDC</a:t>
            </a:r>
          </a:p>
          <a:p>
            <a:r>
              <a:rPr lang="en-US" dirty="0"/>
              <a:t>ICMR</a:t>
            </a:r>
          </a:p>
          <a:p>
            <a:r>
              <a:rPr lang="en-GB" dirty="0"/>
              <a:t>HRI</a:t>
            </a:r>
          </a:p>
          <a:p>
            <a:r>
              <a:rPr lang="en-GB" dirty="0"/>
              <a:t>JETIR.org</a:t>
            </a:r>
          </a:p>
          <a:p>
            <a:r>
              <a:rPr lang="en-GB" dirty="0"/>
              <a:t>international journal of homeopathic science</a:t>
            </a:r>
          </a:p>
          <a:p>
            <a:r>
              <a:rPr lang="en-GB" dirty="0"/>
              <a:t>science direct</a:t>
            </a:r>
          </a:p>
          <a:p>
            <a:r>
              <a:rPr lang="en-GB" dirty="0"/>
              <a:t>pubmed</a:t>
            </a:r>
          </a:p>
          <a:p>
            <a:r>
              <a:rPr lang="en-GB" dirty="0"/>
              <a:t>AYU (An International Quarterly Journal of Research in Ayurveda</a:t>
            </a:r>
          </a:p>
          <a:p>
            <a:r>
              <a:rPr lang="en-GB" dirty="0"/>
              <a:t>PIB</a:t>
            </a:r>
          </a:p>
          <a:p>
            <a:r>
              <a:rPr lang="en-GB" dirty="0"/>
              <a:t>Ayush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953000" y="548640"/>
            <a:ext cx="2286000" cy="2286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 anchorCtr="0"/>
          <a:lstStyle/>
          <a:p>
            <a:r>
              <a:rPr lang="en-US" dirty="0"/>
              <a:t>Team x | Shobhit university</a:t>
            </a:r>
          </a:p>
        </p:txBody>
      </p:sp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{079D9A70-0971-4A5C-97EE-64646A81F998}TF51de1e5f-e0e8-4dd0-99f3-5b7584f7abdc7d30e886_win32-78d4aef5ad8e</Template>
  <TotalTime>789</TotalTime>
  <Words>307</Words>
  <Application>Microsoft Office PowerPoint</Application>
  <PresentationFormat>Widescreen</PresentationFormat>
  <Paragraphs>107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Daytona Condensed Light</vt:lpstr>
      <vt:lpstr>Posterama</vt:lpstr>
      <vt:lpstr>Custom</vt:lpstr>
      <vt:lpstr>AMR Sentinel</vt:lpstr>
      <vt:lpstr>agenda</vt:lpstr>
      <vt:lpstr>AMR</vt:lpstr>
      <vt:lpstr>AMR</vt:lpstr>
      <vt:lpstr>CASE Study</vt:lpstr>
      <vt:lpstr>Competitive landscape</vt:lpstr>
      <vt:lpstr>Core Problem</vt:lpstr>
      <vt:lpstr>Action Plan</vt:lpstr>
      <vt:lpstr>Tech Stack (Action Plan 0.1)</vt:lpstr>
      <vt:lpstr>IMPACT  &amp;   Future scope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Pulkit Srivastva</dc:creator>
  <cp:lastModifiedBy>Pulkit Srivastva</cp:lastModifiedBy>
  <cp:revision>20</cp:revision>
  <dcterms:created xsi:type="dcterms:W3CDTF">2026-10-09T05:30:34Z</dcterms:created>
  <dcterms:modified xsi:type="dcterms:W3CDTF">2026-10-09T19:45:48Z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